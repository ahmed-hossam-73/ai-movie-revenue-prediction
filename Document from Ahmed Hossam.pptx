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13716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🎬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Box Office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Prediction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#22  •  Deep Learning + RAG + LLM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4937760"/>
            <a:ext cx="3657600" cy="0"/>
          </a:xfrm>
          <a:prstGeom prst="line">
            <a:avLst/>
          </a:prstGeom>
          <a:noFill/>
          <a:ln w="38100">
            <a:solidFill>
              <a:srgbClr val="F4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RNN Variants (SimpleRNN, LSTM, GRU, BiLSTM, BiGRU) with RAG and Groq LLM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5000 Movies + Credits  •  Streamlit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8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 box-office revenue from movie features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10312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💸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value range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$1K to $2.8B — extreme skew. Avatar removed as outlier.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210312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🎲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factors interact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384048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timing, genre, audience reception — all matter.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210312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59536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features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95360" y="384048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structural metadata is reliably available.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Solution: 25 structured features (budget + dates + ratings + genres) fed to 5 RNN variants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8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TMDB 5000 Movies + Credits  •  Merged on movie_id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0116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4,803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383280" y="3108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records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0116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309360" y="3108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235440" y="182880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0116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235440" y="3108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flags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5486400" cy="2103120"/>
          </a:xfrm>
          <a:prstGeom prst="roundRect">
            <a:avLst>
              <a:gd name="adj" fmla="val 652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89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 FEATURES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 + month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average + vote count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genre one-hot flags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297680"/>
            <a:ext cx="5486400" cy="2103120"/>
          </a:xfrm>
          <a:prstGeom prst="roundRect">
            <a:avLst>
              <a:gd name="adj" fmla="val 6522"/>
            </a:avLst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389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4846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Box-office revenue (USD)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0" y="53949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regression target.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MinMax-scaled for training.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removed as outlier (&gt;$1B).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8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End-to-end flow from raw CSVs to Streamlit deployment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7280" cy="1097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+ credits on movie_id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22860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400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313432" y="2103120"/>
            <a:ext cx="1097280" cy="1097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3432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039112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39112" y="39319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genres, keywords, cast, crew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10712" y="22860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400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986784" y="2103120"/>
            <a:ext cx="1097280" cy="1097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86784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712464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12464" y="39319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features + MinMax scaling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22860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400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660136" y="2103120"/>
            <a:ext cx="1097280" cy="1097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0136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385816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5 RNNs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85816" y="39319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SimpleRNN, LSTM, GRU, BiLSTM, BiGRU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57416" y="22860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400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333488" y="2103120"/>
            <a:ext cx="1097280" cy="1097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3488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059168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RAG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59168" y="39319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sentence-transformers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30768" y="22860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400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006840" y="2103120"/>
            <a:ext cx="1097280" cy="1097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8732520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32520" y="39319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with context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104120" y="22860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400"/>
                </a:solidFill>
              </a:rPr>
              <a:t>→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0680192" y="2103120"/>
            <a:ext cx="1097280" cy="1097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80192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10405872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405872" y="39319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.pkl/.h5 + Streamlit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57784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Output: 5 trained models + RAG index + Streamlit UI for end-to-end revenue prediction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8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RNN architectures trained with identical hyperparameters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103120" cy="2743200"/>
          </a:xfrm>
          <a:prstGeom prst="roundRect">
            <a:avLst>
              <a:gd name="adj" fmla="val 6522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SimpleRNN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2-layer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Arch: 64 → 32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Dense(16) → Dense(1)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828800"/>
            <a:ext cx="2103120" cy="2743200"/>
          </a:xfrm>
          <a:prstGeom prst="roundRect">
            <a:avLst>
              <a:gd name="adj" fmla="val 6522"/>
            </a:avLst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34640" y="2743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33832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Arch: 64 → 32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Dense(16) → Dense(1)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2103120" cy="2743200"/>
          </a:xfrm>
          <a:prstGeom prst="roundRect">
            <a:avLst>
              <a:gd name="adj" fmla="val 6522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20640" y="2743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Recurrent Unit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33832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Arch: 64 → 32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Dense(16) → Dense(1)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1828800"/>
            <a:ext cx="2103120" cy="2743200"/>
          </a:xfrm>
          <a:prstGeom prst="roundRect">
            <a:avLst>
              <a:gd name="adj" fmla="val 6522"/>
            </a:avLst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06640" y="2743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33832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Arch: 64 → 32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Dense(16) → Dense(1)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1828800"/>
            <a:ext cx="2103120" cy="2743200"/>
          </a:xfrm>
          <a:prstGeom prst="roundRect">
            <a:avLst>
              <a:gd name="adj" fmla="val 6522"/>
            </a:avLst>
          </a:prstGeom>
          <a:solidFill>
            <a:srgbClr val="8172B2"/>
          </a:solidFill>
          <a:ln w="12700">
            <a:solidFill>
              <a:srgbClr val="8172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BiGRU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92640" y="2743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GRU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0" y="33832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Arch: 64 → 32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Dense(16) → Dense(1)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Training Configuration (same for all 5 models)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5394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377440" y="5394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5394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63840" y="5394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(regression)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806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77440" y="5806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(with EarlyStopping)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5806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63840" y="5806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6217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split: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77440" y="6217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6217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shape: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863840" y="6217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(25, 1) — features as timesteps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8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Bidirectional architectures topped the leaderboard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4297680"/>
          </a:xfrm>
          <a:prstGeom prst="roundRect">
            <a:avLst>
              <a:gd name="adj" fmla="val 348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GRU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371600" cy="0"/>
          </a:xfrm>
          <a:prstGeom prst="line">
            <a:avLst/>
          </a:prstGeom>
          <a:noFill/>
          <a:ln w="38100">
            <a:solidFill>
              <a:srgbClr val="F4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Score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~76%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~41% with limited features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vote_count captures audience demand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Genre context guides predictions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Bidirectional sees full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2286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1828800"/>
            <a:ext cx="1554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(%)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95360" y="1828800"/>
            <a:ext cx="1554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($M)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149840" y="1828800"/>
            <a:ext cx="1554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0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($M)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2286000" cy="548640"/>
          </a:xfrm>
          <a:prstGeom prst="rect">
            <a:avLst/>
          </a:prstGeom>
          <a:solidFill>
            <a:srgbClr val="F4B40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GRU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2286000"/>
            <a:ext cx="1554480" cy="548640"/>
          </a:xfrm>
          <a:prstGeom prst="rect">
            <a:avLst/>
          </a:prstGeom>
          <a:solidFill>
            <a:srgbClr val="F4B40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95360" y="2286000"/>
            <a:ext cx="1554480" cy="548640"/>
          </a:xfrm>
          <a:prstGeom prst="rect">
            <a:avLst/>
          </a:prstGeom>
          <a:solidFill>
            <a:srgbClr val="F4B40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149840" y="2286000"/>
            <a:ext cx="1554480" cy="548640"/>
          </a:xfrm>
          <a:prstGeom prst="rect">
            <a:avLst/>
          </a:prstGeom>
          <a:solidFill>
            <a:srgbClr val="F4B40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834640"/>
            <a:ext cx="2286000" cy="548640"/>
          </a:xfrm>
          <a:prstGeom prst="rect">
            <a:avLst/>
          </a:prstGeom>
          <a:solidFill>
            <a:srgbClr val="CADC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40880" y="2834640"/>
            <a:ext cx="1554480" cy="548640"/>
          </a:xfrm>
          <a:prstGeom prst="rect">
            <a:avLst/>
          </a:prstGeom>
          <a:solidFill>
            <a:srgbClr val="CADC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95360" y="2834640"/>
            <a:ext cx="1554480" cy="548640"/>
          </a:xfrm>
          <a:prstGeom prst="rect">
            <a:avLst/>
          </a:prstGeom>
          <a:solidFill>
            <a:srgbClr val="CADC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149840" y="2834640"/>
            <a:ext cx="1554480" cy="548640"/>
          </a:xfrm>
          <a:prstGeom prst="rect">
            <a:avLst/>
          </a:prstGeom>
          <a:solidFill>
            <a:srgbClr val="CADC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38328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3832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40880" y="3383280"/>
            <a:ext cx="155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95360" y="3383280"/>
            <a:ext cx="155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~83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149840" y="3383280"/>
            <a:ext cx="155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4128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54880" y="3931920"/>
            <a:ext cx="2286000" cy="548640"/>
          </a:xfrm>
          <a:prstGeom prst="rect">
            <a:avLst/>
          </a:prstGeom>
          <a:solidFill>
            <a:srgbClr val="CADC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931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040880" y="3931920"/>
            <a:ext cx="1554480" cy="548640"/>
          </a:xfrm>
          <a:prstGeom prst="rect">
            <a:avLst/>
          </a:prstGeom>
          <a:solidFill>
            <a:srgbClr val="CADC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0" y="3931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595360" y="3931920"/>
            <a:ext cx="1554480" cy="548640"/>
          </a:xfrm>
          <a:prstGeom prst="rect">
            <a:avLst/>
          </a:prstGeom>
          <a:solidFill>
            <a:srgbClr val="CADC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3931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149840" y="3931920"/>
            <a:ext cx="1554480" cy="548640"/>
          </a:xfrm>
          <a:prstGeom prst="rect">
            <a:avLst/>
          </a:prstGeom>
          <a:solidFill>
            <a:srgbClr val="CADC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41280" y="3931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54880" y="448056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4480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SimpleRNN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040880" y="4480560"/>
            <a:ext cx="155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4480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595360" y="4480560"/>
            <a:ext cx="155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86800" y="4480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0149840" y="4480560"/>
            <a:ext cx="155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241280" y="4480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754880" y="585216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numbers vary by random seed — Bidirectional models consistently rank highest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 in Action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8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Beyond prediction: retrieve similar movies and generate explanations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011680"/>
            <a:ext cx="914400" cy="9144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Query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overview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year, month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vote average + count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selection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2011680"/>
            <a:ext cx="914400" cy="9144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RAG Retrieval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6576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overview with MiniLM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FAISS index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most similar movies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their actual revenues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2011680"/>
            <a:ext cx="914400" cy="9144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50392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LLM Explanation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36576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 70B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prediction + RAG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4-6 sentence reasoning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+ strategy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400"/>
                </a:solidFill>
              </a:rPr>
              <a:t>→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9552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400"/>
                </a:solidFill>
              </a:rPr>
              <a:t>→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"With a $200M budget for an action sci-fi, the predicted $500M revenue is profitable. Similar films like Avengers ($1.5B) suggest strong franchise appeal."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 app powered by saved .pkl + .h5 artifacts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Saved Artifacts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best_dl_model.h5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Best RNN (Keras format)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scaler_X.pkl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MinMax scaler for features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scaler_y.pkl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MinMax scaler for target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model_metadata.pkl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 columns + results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movies_data.pkl + embeddings.npy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RAG (pre-computed)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486400" cy="4389120"/>
          </a:xfrm>
          <a:prstGeom prst="roundRect">
            <a:avLst>
              <a:gd name="adj" fmla="val 3125"/>
            </a:avLst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Streamlit App Flow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26060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overview + budget + genres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31089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3108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loads .h5/.pkl artifacts (cached)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6118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3611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 → reshape to (25, 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411480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model predicts revenue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461772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retrieves top-5 similar movies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51206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generates explanation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56235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5623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5623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results in clean UI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371600"/>
            <a:ext cx="1828800" cy="18288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6636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🎬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4B4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251960" y="5486400"/>
            <a:ext cx="365760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Box Office Revenue Prediction  •  Deep Learning + RAG + LLM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Box Office Revenue Prediction</dc:title>
  <dc:subject>PptxGenJS Presentation</dc:subject>
  <dc:creator>PptxGenJS</dc:creator>
  <cp:lastModifiedBy>PptxGenJS</cp:lastModifiedBy>
  <cp:revision>1</cp:revision>
  <dcterms:created xsi:type="dcterms:W3CDTF">2026-05-13T20:25:01Z</dcterms:created>
  <dcterms:modified xsi:type="dcterms:W3CDTF">2026-05-13T20:25:01Z</dcterms:modified>
</cp:coreProperties>
</file>